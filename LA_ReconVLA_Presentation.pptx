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ud Dewan" userId="ba7716aa-80a6-42ba-b5b9-9e993ec6c25d" providerId="ADAL" clId="{8B0E71F8-CF6B-46D5-B656-A6DF021F24AB}"/>
    <pc:docChg chg="undo custSel modSld">
      <pc:chgData name="Daud Dewan" userId="ba7716aa-80a6-42ba-b5b9-9e993ec6c25d" providerId="ADAL" clId="{8B0E71F8-CF6B-46D5-B656-A6DF021F24AB}" dt="2026-04-21T14:55:58.678" v="90" actId="20577"/>
      <pc:docMkLst>
        <pc:docMk/>
      </pc:docMkLst>
      <pc:sldChg chg="modSp mod">
        <pc:chgData name="Daud Dewan" userId="ba7716aa-80a6-42ba-b5b9-9e993ec6c25d" providerId="ADAL" clId="{8B0E71F8-CF6B-46D5-B656-A6DF021F24AB}" dt="2026-04-21T14:54:24.479" v="80" actId="1076"/>
        <pc:sldMkLst>
          <pc:docMk/>
          <pc:sldMk cId="0" sldId="260"/>
        </pc:sldMkLst>
        <pc:spChg chg="mod">
          <ac:chgData name="Daud Dewan" userId="ba7716aa-80a6-42ba-b5b9-9e993ec6c25d" providerId="ADAL" clId="{8B0E71F8-CF6B-46D5-B656-A6DF021F24AB}" dt="2026-04-21T14:54:24.479" v="80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ud Dewan" userId="ba7716aa-80a6-42ba-b5b9-9e993ec6c25d" providerId="ADAL" clId="{8B0E71F8-CF6B-46D5-B656-A6DF021F24AB}" dt="2026-04-21T14:54:13.064" v="79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Daud Dewan" userId="ba7716aa-80a6-42ba-b5b9-9e993ec6c25d" providerId="ADAL" clId="{8B0E71F8-CF6B-46D5-B656-A6DF021F24AB}" dt="2026-04-21T14:55:58.678" v="90" actId="20577"/>
        <pc:sldMkLst>
          <pc:docMk/>
          <pc:sldMk cId="0" sldId="262"/>
        </pc:sldMkLst>
        <pc:spChg chg="mod">
          <ac:chgData name="Daud Dewan" userId="ba7716aa-80a6-42ba-b5b9-9e993ec6c25d" providerId="ADAL" clId="{8B0E71F8-CF6B-46D5-B656-A6DF021F24AB}" dt="2026-04-21T14:55:53.052" v="85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aud Dewan" userId="ba7716aa-80a6-42ba-b5b9-9e993ec6c25d" providerId="ADAL" clId="{8B0E71F8-CF6B-46D5-B656-A6DF021F24AB}" dt="2026-04-21T14:55:58.678" v="90" actId="20577"/>
          <ac:spMkLst>
            <pc:docMk/>
            <pc:sldMk cId="0" sldId="262"/>
            <ac:spMk id="2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448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LA-ReconVLA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Language-Attention Guided Masked Reconstruction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Vision-Language-Action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annotation bottleneck in robot learning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566160"/>
            <a:ext cx="2743200" cy="36576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Daud Ibrahim Dewan  |  A00084632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Roehampton, London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CMP-L043-0 Deep Learning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Robots Learn to Do Tasks?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115568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teaching a robot to pick up a lemon from a table.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88720" y="20574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887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It Examples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demonstrates the task many times (like showing a child how to hold a cup)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92024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0" y="20574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Everything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97480" y="30632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capture what the robot "sees"; sensors record what its arm "does"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212080" y="20574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the Pattern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30632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robot's brain (neural network) finds the connection between what it sees and what action to take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192024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23760" y="2057400"/>
            <a:ext cx="502920" cy="5029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237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20840" y="2697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On Its Own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306324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new scene, the robot predicts the correct action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question: How does the robot know which part of the scene to focus on?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Traditional Approach: Object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1508760" cy="5943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0972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39112" y="1097280"/>
            <a:ext cx="1508760" cy="5943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039112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47872" y="10972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12464" y="1097280"/>
            <a:ext cx="1508760" cy="5943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12464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"bowl"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21224" y="10972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85816" y="1097280"/>
            <a:ext cx="1508760" cy="5943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85816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94576" y="1097280"/>
            <a:ext cx="164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A0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1097280"/>
            <a:ext cx="1508760" cy="5943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059168" y="10972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Robot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057400"/>
            <a:ext cx="320040" cy="32004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detection model (like YOLO or Grounding DINO) draws bounding boxes around objects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514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identifies the target object (e.g., "black bowl") from the detected boxes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063240"/>
            <a:ext cx="320040" cy="32004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policy uses the detected object's position to compute robot movements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1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when: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are clearly visible and well-defined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plenty of labelled training data for detection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is clean and predictable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With the Object Detection Approach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54864" cy="566928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06984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06984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image needs labelled bounding boxes - expensive and slow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709928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8640" y="1709928"/>
            <a:ext cx="54864" cy="566928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172821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7282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trained on internet images struggle with robot camera angles, lighting, and clutter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68296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48640" y="2368296"/>
            <a:ext cx="54864" cy="566928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23865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Brittle to Novel Objects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23865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robot encounters an object the detector has never seen, it fails completely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" y="3026664"/>
            <a:ext cx="54864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04495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Task Context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0449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finds "a bowl" but doesn't understand "pick up that bowl and put it in the drawer"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85032"/>
            <a:ext cx="804672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" y="3685032"/>
            <a:ext cx="54864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37033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Pipeline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37033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action are trained separately - errors compound across stages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deeper problem: Object detection treats everything as box-finding. But manipulation is about what to do with the object, not just where it is.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Real Robots Actually Work (7 Degrees of Freedom)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arm must predict 7 continuous values simultaneously at every timestep: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236829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It Controls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Left-right position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Move 10cm to the right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Forward-backward position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Reach forward 5cm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z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Up-down position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Lift arm 15cm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roll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Rotation around x-axis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Tilt wrist sideways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pitch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Rotation around y-axis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Tilt wrist forward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EA5A0"/>
                          </a:solidFill>
                        </a:rPr>
                        <a:t>yaw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Rotation around z-axis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Rotate wrist left/right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gripper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Open or close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0 = fully open, 1 = fully closed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40080" y="4055364"/>
            <a:ext cx="804672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 (Vision-Language-Action) model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takes image + instruction and outputs all 7 values in one forward pass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ReconVLA and Why Does It Exist?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051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Instead of detecting objects with bounding boxes, force the model to reconstruct the region it should focus 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234440" y="1874520"/>
            <a:ext cx="411480" cy="4114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Gaze Region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human would look during the task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91840" y="1874520"/>
            <a:ext cx="411480" cy="4114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918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974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the Region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that region in the model's internal representation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349240" y="1874520"/>
            <a:ext cx="411480" cy="4114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349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Decoder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decoder recovers the masked pixels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0840" y="178308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406640" y="1874520"/>
            <a:ext cx="411480" cy="411480"/>
          </a:xfrm>
          <a:prstGeom prst="ellipse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06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Encoding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228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must encode detailed info about that region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15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better than detection: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spatial understanding, not just box coordinates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pressure improves internal representation (information bottleneck principle)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learns geometry, shape, and position of the target - richer than a bounding box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Bottleneck: Data Annotation + Gaze Regions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3840480" cy="411480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Annotation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5544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ReconVLA requires gaze region annotations for manipulation targets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Grounding (object detector) to auto-generate regions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on 100k+ trajectories, 2M+ samples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55448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2880360"/>
            <a:ext cx="1737360" cy="73152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888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to annotate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023360" cy="411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Is a Problem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600200"/>
            <a:ext cx="54864" cy="384048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task needs fresh annotation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103120"/>
            <a:ext cx="54864" cy="384048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21031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2860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heavy model itself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54864" cy="384048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0" y="26060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Dependency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7889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good detector to train a good policy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54864" cy="384048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2918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labs cannot afford this overhead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we remove this annotation bottleneck entirely?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Reconstruction Concept: Replacing Object Detection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The model already knows where to look - we just need to extract that knowledge.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320040" cy="32004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forces grounding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 region and force reconstruction - the backbone must encode that region's details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ReconVLA [1], MAE [4]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55448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383280" y="1645920"/>
            <a:ext cx="320040" cy="32004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9476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emerges without labels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VLMs develop grounding ability without explicit supervision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GroundLMM [13]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155448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320040" cy="32004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few heads localize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attention heads consistently attend to task-relevant objects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72200" y="32918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Heads [14]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Substitution: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114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gaze annotation  →  </a:t>
            </a:r>
            <a:r>
              <a:rPr lang="en-US" sz="1000" b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own cross-attention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diffusion decoder  →  </a:t>
            </a:r>
            <a:r>
              <a:rPr lang="en-US" sz="1000" b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MAE decoder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LA-ReconVLA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Language-Attention guided ReconVLA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ReconVLA (original)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LA-ReconVLA (ours)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Region Selection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Gaze annotation + Grounding DINO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Cross-attention saliency from the model itself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Reconstruction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Diffusion Transformer (50-1000 steps)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MAE decoder (4 layers, single forward pass)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External Deps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Object detector, annotation pipeline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A5A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Inference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Multi-step denoising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One-shot prediction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7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should work (with evidence):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374136"/>
            <a:ext cx="228600" cy="2286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31520" y="33741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7280" y="3337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GroundLMM [13]: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ability emerges in VLMs without explicit supervision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" y="3721608"/>
            <a:ext cx="228600" cy="2286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31520" y="37216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" y="36850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Heads [14]: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attention heads act as consistent localizers - select these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31520" y="4069080"/>
            <a:ext cx="228600" cy="2286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31520" y="4069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" y="40325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[4]: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reconstruction provides cleaner gradients (O(4) vs O(T*D))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1520" y="4416552"/>
            <a:ext cx="228600" cy="2286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31520" y="44165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" y="43799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SemMAE/SemMIM [19,21]: 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Text-guided masking is better than random for cross-modal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LA-ReconVLA Works (Pipeline)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051560"/>
            <a:ext cx="1261872" cy="36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(224x224)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Language Instruction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81912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19072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719072" y="1051560"/>
            <a:ext cx="1261872" cy="36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719072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64792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PaliGemma-3B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(frozen, last 2 layers fine-tuned)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980944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18104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118104" y="1051560"/>
            <a:ext cx="1261872" cy="36576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118104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Maps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63824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Cross-attn from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heads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(lang -&gt; image)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79976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17136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17136" y="1051560"/>
            <a:ext cx="1261872" cy="36576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17136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Top 25%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62856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49/256 patches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 mask M)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79008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16168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16168" y="1051560"/>
            <a:ext cx="1261872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16168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Decoder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61888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transformer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pixels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78040" y="15544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A0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1051560"/>
            <a:ext cx="1261872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315200" y="1051560"/>
            <a:ext cx="1261872" cy="365760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15200" y="105156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1463040"/>
            <a:ext cx="1170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=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L_action + lambda*L_recon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2834640"/>
            <a:ext cx="8046720" cy="155448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3152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Self-Reinforcing Loop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3291840"/>
            <a:ext cx="1828800" cy="82296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77240" y="3337560"/>
            <a:ext cx="274320" cy="2743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772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9728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attention maps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60320" y="3429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0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2743200" y="3291840"/>
            <a:ext cx="1828800" cy="82296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788920" y="3337560"/>
            <a:ext cx="274320" cy="2743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7889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10896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masks (target region)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3429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0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754880" y="3291840"/>
            <a:ext cx="1828800" cy="82296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800600" y="3337560"/>
            <a:ext cx="274320" cy="2743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8006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2064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reconstruction signal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583680" y="3429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A0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766560" y="3291840"/>
            <a:ext cx="1828800" cy="82296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812280" y="3337560"/>
            <a:ext cx="274320" cy="27432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81228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32320" y="3337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backbone representations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31520" y="416052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loops back to step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Plan: Five Conditions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Mask Source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Question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Action-only baseline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Lower bound: no reconstruction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A5A0"/>
                          </a:solidFill>
                        </a:rPr>
                        <a:t>C2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Random-mask 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Random 25%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Does any reconstruction help?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A5A0"/>
                          </a:solidFill>
                        </a:rPr>
                        <a:t>C3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Naive attention 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All-head avg attn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Does naive attention beat random?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C4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Selected-head 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Localization heads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Does head selection matter?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C5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Selected-head + EMA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EMA backbone attn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Does mask stabilisation help?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063240"/>
            <a:ext cx="80467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Setup</a:t>
            </a:r>
            <a:endParaRPr lang="en-US" sz="1200" dirty="0"/>
          </a:p>
        </p:txBody>
      </p:sp>
      <p:sp>
        <p:nvSpPr>
          <p:cNvPr id="8" name="Text 9"/>
          <p:cNvSpPr/>
          <p:nvPr/>
        </p:nvSpPr>
        <p:spPr>
          <a:xfrm>
            <a:off x="731520" y="3520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Backbone: 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7373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PaliGemma-3B (frozen, last 2 layers fine-tuned)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3736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LIBERO-Spatial, 3 tasks x 50 demos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3520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521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epochs, batch size 8-16, AdamW lr=1e-4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85216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P100 / Colab T4 GPU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So Far: Not Yet As Expected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Action Loss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Recon Loss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 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Val Loss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C1 (Baseline)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0.234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</a:rPr>
                        <a:t>-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A5A0"/>
                          </a:solidFill>
                        </a:rPr>
                        <a:t>1.026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C2 (Random MAE)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1.067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C3 (Naive Attn)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1.085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C4 (Selected Heads)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0.245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0.052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1.086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C5 (EMA Teacher)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0.245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0.052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1.084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Reconstruction loss decreases (decoder learns) but action loss does not improve over baseline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1920240" cy="9144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48640" y="3611880"/>
            <a:ext cx="1920240" cy="36576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10"/>
          <p:cNvSpPr/>
          <p:nvPr/>
        </p:nvSpPr>
        <p:spPr>
          <a:xfrm>
            <a:off x="6400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Training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epochs with 150 demos - model barely starts learning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606040" y="3611880"/>
            <a:ext cx="1920240" cy="9144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606040" y="3611880"/>
            <a:ext cx="1920240" cy="36576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6974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Too Frozen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9748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 layers out of 26+ provide limited gradient flow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63440" y="3611880"/>
            <a:ext cx="1920240" cy="9144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63440" y="3611880"/>
            <a:ext cx="1920240" cy="36576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7548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Reconstruction Too Easy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5488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masking with 75% context - decoder solves by interpolation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20840" y="3611880"/>
            <a:ext cx="1920240" cy="9144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6720840" y="3611880"/>
            <a:ext cx="1920240" cy="36576"/>
          </a:xfrm>
          <a:prstGeom prst="rect">
            <a:avLst/>
          </a:prstGeom>
          <a:solidFill>
            <a:srgbClr val="E865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8122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Constraint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812280" y="3977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T4/P100 with batch_size 6-8 limits effective training signal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Fine-Tuning with LoRA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 |  Daud Ibrahim Dewan  |  A00084632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365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1051560"/>
            <a:ext cx="73152" cy="105156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051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LoRA Does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137160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small trainable matrices (rank-16) into each attention and MLP layer of the backbone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fine-tuning only 2 layers, LoRA adapts all layers efficiently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 increase from ~2M to ~15M while keeping memory manageable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LoRA Should Work for LA-ReconVLA: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Relevance to Our Work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LoRA preserves pre-trained knowledge while adapting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EA5A0"/>
                          </a:solidFill>
                        </a:rPr>
                        <a:t>Hu et al., 2022 (LoRA)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Need backbone's grounding signal but also need to adapt for robot tasks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LoRA enables fine-tuning LLMs on single GPUs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EA5A0"/>
                          </a:solidFill>
                        </a:rPr>
                        <a:t>LoRA benchmarks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Fits our T4/P100 constraint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Frozen backbone produces stale attention maps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Our experiment results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LoRA allows attention patterns to evolve during training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rank=16 matches full fine-tuning on VLM tasks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EA5A0"/>
                          </a:solidFill>
                        </a:rPr>
                        <a:t>PaliGemma studies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Our config: r=16, alpha=32 is well-validated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1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31520" y="4069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Attention patterns become instruction-conditioned, reconstruction creates meaningful gradients, action MAE decreases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828800" cy="36576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C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manipulation needs spatial grounding - not just object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ReconVLA showed reconstruction pressure forces grounding, but requires expensive annotations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LA-ReconVLA proposes replacing annotations with attention + replacing diffusion with MAE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experiments show the pipeline works but the frozen backbone limits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is the next step to unlock the backbone's full potential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7315200" cy="36576"/>
          </a:xfrm>
          <a:prstGeom prst="rect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References: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Song et al., ReconVLA (2025)  |  [4] He et al., MAE (2022)  |  [13] Zhao et al., GroundLMM (2024)  |  [14] Zhang et al., Localization Heads (2025)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C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1682</Words>
  <Application>Microsoft Office PowerPoint</Application>
  <PresentationFormat>On-screen Show (16:9)</PresentationFormat>
  <Paragraphs>343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LA-ReconVLA Presentation</dc:title>
  <dc:subject/>
  <dc:creator>Daud Ibrahim Dewan</dc:creator>
  <cp:lastModifiedBy>Daud Ibrahim Dewan</cp:lastModifiedBy>
  <cp:revision>1</cp:revision>
  <dcterms:created xsi:type="dcterms:W3CDTF">2026-04-21T14:42:57Z</dcterms:created>
  <dcterms:modified xsi:type="dcterms:W3CDTF">2026-04-21T14:56:00Z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2026-04-21T14:53:56Z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4bfc8473-b4f8-4a68-83c6-6b4fc5438261</vt:lpwstr>
  </property>
  <property fmtid="{D5CDD505-2E9C-101B-9397-08002B2CF9AE}" pid="7" name="MSIP_Label_defa4170-0d19-0005-0004-bc88714345d2_ActionId">
    <vt:lpwstr>eb527ebb-0f2c-4e17-a3d0-6804a070098e</vt:lpwstr>
  </property>
  <property fmtid="{D5CDD505-2E9C-101B-9397-08002B2CF9AE}" pid="8" name="MSIP_Label_defa4170-0d19-0005-0004-bc88714345d2_ContentBits">
    <vt:lpwstr>0</vt:lpwstr>
  </property>
</Properties>
</file>